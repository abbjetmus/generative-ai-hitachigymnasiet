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Segoe UI"/>
              </a:defRPr>
            </a:pPr>
            <a:r>
              <a:t>GENERATIV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6B6D4"/>
                </a:solidFill>
                <a:latin typeface="Segoe UI"/>
              </a:defRPr>
            </a:pPr>
            <a:r>
              <a:t>En introduktion till framtidens teknologi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3474720"/>
            <a:ext cx="30175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BD5E1"/>
                </a:solidFill>
                <a:latin typeface="Segoe UI"/>
              </a:defRPr>
            </a:pPr>
            <a:r>
              <a:t>Hitachigymnasiet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Kursmaterial: github.com/microsoft/generative-ai-with-javascript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Vad är Artificiell Intelligens?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02920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4389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Segoe UI"/>
              </a:defRPr>
            </a:pPr>
            <a:r>
              <a:t>AI (Artificiell Intelligens) är en samling verktyg och tekniker som gör det möjligt för datorer att utföra uppgifter som normalt kräver mänsklig intelligens.</a:t>
            </a:r>
            <a:br/>
            <a:br/>
            <a:r>
              <a:t>AI finns redan överallt i våra liv:</a:t>
            </a:r>
            <a:br/>
            <a:br/>
            <a:r>
              <a:t>- Varje gång du googlar något</a:t>
            </a:r>
            <a:br/>
            <a:r>
              <a:t>- När du betalar med kort (bedrägeridetektering)</a:t>
            </a:r>
            <a:br/>
            <a:r>
              <a:t>- Netflix och Spotify rekommendationer</a:t>
            </a:r>
            <a:br/>
            <a:r>
              <a:t>- Autokorrigering på din telefon</a:t>
            </a:r>
            <a:br/>
            <a:r>
              <a:t>- Ansiktsigenkänning</a:t>
            </a:r>
            <a:br/>
            <a:br/>
            <a:r>
              <a:t>Du använder AI dussintals gånger om dagen - ofta utan att tänka på det!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63040"/>
            <a:ext cx="5029200" cy="12801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Segoe UI"/>
              </a:defRPr>
            </a:pPr>
            <a:r>
              <a:t>Supervised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0116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Lär sig mönster från märkt data.</a:t>
            </a:r>
            <a:br/>
            <a:r>
              <a:t>T.ex. spamfilter, bildklassificering.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017520"/>
            <a:ext cx="5029200" cy="12801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Segoe UI"/>
              </a:defRPr>
            </a:pPr>
            <a:r>
              <a:t>Generativ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5661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Skapar nytt innehåll: text, bilder, ljud, kod.</a:t>
            </a:r>
            <a:br/>
            <a:r>
              <a:t>T.ex. ChatGPT, DALL-E, GitHub Copilot.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572000"/>
            <a:ext cx="5029200" cy="12801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Segoe UI"/>
              </a:defRPr>
            </a:pPr>
            <a:r>
              <a:t>Reinforcement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51206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Lär sig genom trial and error.</a:t>
            </a:r>
            <a:br/>
            <a:r>
              <a:t>T.ex. spel-AI, robotik.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Vad är Generativ AI?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13716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Generativ AI är AI-system som kan skapa nytt, högkvalitativt innehåll - text, bilder, ljud och kod.</a:t>
            </a:r>
            <a:br/>
            <a:r>
              <a:t>Det mest kända exemplet är ChatGPT, som lanserades i november 2022 och förändrade allt.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08960"/>
            <a:ext cx="3291840" cy="29260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2918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96FF"/>
                </a:solidFill>
                <a:latin typeface="Segoe UI"/>
              </a:defRPr>
            </a:pPr>
            <a:r>
              <a:t>$2.6-4.4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96FF"/>
                </a:solidFill>
                <a:latin typeface="Segoe UI"/>
              </a:defRPr>
            </a:pPr>
            <a:r>
              <a:t>BILJONER USD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38912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Beräknat årligt tillskott till den globala ekonomin tack vare generativ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108960"/>
            <a:ext cx="3291840" cy="29260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32918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C3AED"/>
                </a:solidFill>
                <a:latin typeface="Segoe UI"/>
              </a:defRPr>
            </a:pPr>
            <a:r>
              <a:t>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C3AED"/>
                </a:solidFill>
                <a:latin typeface="Segoe UI"/>
              </a:defRPr>
            </a:pPr>
            <a:r>
              <a:t>GLOBAL BNP-ÖKNING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438912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Goldman Sachs uppskattar att generativ AI kan höja global BNP med 7% under nästa decennium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108960"/>
            <a:ext cx="3291840" cy="29260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32918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  <a:latin typeface="Segoe UI"/>
              </a:defRPr>
            </a:pPr>
            <a:r>
              <a:t>80%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0B981"/>
                </a:solidFill>
                <a:latin typeface="Segoe UI"/>
              </a:defRPr>
            </a:pPr>
            <a:r>
              <a:t>AV ALLA ARBETARE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38912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Över 80% av arbetare kan få minst 10% av sina arbetsuppgifter påverkade av generativ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Segoe UI"/>
              </a:defRPr>
            </a:pPr>
            <a:r>
              <a:t>Hur fungerar stora språkmodeller (LLMs)?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6B6D4"/>
                </a:solidFill>
                <a:latin typeface="Segoe UI"/>
              </a:defRPr>
            </a:pPr>
            <a:r>
              <a:t>LLMs lär sig att förutsäga nästa ord - och det är hela hemligheten!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698480" cy="2011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FF"/>
                </a:solidFill>
                <a:latin typeface="Segoe UI"/>
              </a:defRPr>
            </a:pPr>
            <a:r>
              <a:t>Exempel: Hur modellen lär sig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onsolas"/>
              </a:defRPr>
            </a:pPr>
            <a:r>
              <a:t>Mening: "Min favoritmat är en bagel med cream cheese"</a:t>
            </a:r>
            <a:br/>
            <a:br/>
            <a:r>
              <a:t>"Min favoritmat är en"  --&gt;  bagel</a:t>
            </a:r>
            <a:br/>
            <a:r>
              <a:t>"Min favoritmat är en bagel"  --&gt;  med</a:t>
            </a:r>
            <a:br/>
            <a:r>
              <a:t>"Min favoritmat är en bagel med"  --&gt;  cream</a:t>
            </a:r>
            <a:br/>
            <a:r>
              <a:t>"Min favoritmat är en bagel med cream"  --&gt;  cheese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97680"/>
            <a:ext cx="3291840" cy="2011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434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Segoe UI"/>
              </a:defRPr>
            </a:pPr>
            <a:r>
              <a:t>Massiv träningsdata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8920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Hundratals miljarder till biljoner ord från internet, böcker och andra källor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4297680"/>
            <a:ext cx="3291840" cy="2011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4434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Segoe UI"/>
              </a:defRPr>
            </a:pPr>
            <a:r>
              <a:t>Enorma modeller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48920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Miljarder parametrar som fångar språkets mönster och struktur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4297680"/>
            <a:ext cx="3291840" cy="2011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4434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Prompt = Instruktion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48920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Du skriver en prompt (instruktion) och modellen genererar text som svar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Vad kan man göra med Generativ AI?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Segoe UI"/>
              </a:defRPr>
            </a:pPr>
            <a:r>
              <a:t>Tre huvudkategorier av uppgifter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96FF"/>
                </a:solidFill>
                <a:latin typeface="Segoe UI"/>
              </a:defRPr>
            </a:pPr>
            <a:r>
              <a:t>SKRIVA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Kort prompt --&gt; Lång text</a:t>
            </a:r>
            <a:br/>
            <a:br/>
            <a:r>
              <a:t>- Brainstorming &amp; idéer</a:t>
            </a:r>
            <a:br/>
            <a:r>
              <a:t>- Marknadsföringstexter</a:t>
            </a:r>
            <a:br/>
            <a:r>
              <a:t>- E-post &amp; rapporter</a:t>
            </a:r>
            <a:br/>
            <a:r>
              <a:t>- Översättning</a:t>
            </a:r>
            <a:br/>
            <a:r>
              <a:t>- Kodgenerering</a:t>
            </a:r>
            <a:br/>
            <a:r>
              <a:t>- Kreativt skrivande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828800"/>
            <a:ext cx="3383280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C3AED"/>
                </a:solidFill>
                <a:latin typeface="Segoe UI"/>
              </a:defRPr>
            </a:pPr>
            <a:r>
              <a:t>LÄSA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651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Lång text --&gt; Kort svar</a:t>
            </a:r>
            <a:br/>
            <a:br/>
            <a:r>
              <a:t>- Sammanfattningar</a:t>
            </a:r>
            <a:br/>
            <a:r>
              <a:t>- Korrekturläsning</a:t>
            </a:r>
            <a:br/>
            <a:r>
              <a:t>- Sentimentanalys</a:t>
            </a:r>
            <a:br/>
            <a:r>
              <a:t>- E-postkategorisering</a:t>
            </a:r>
            <a:br/>
            <a:r>
              <a:t>- Datautvinning</a:t>
            </a:r>
            <a:br/>
            <a:r>
              <a:t>- Klassificering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828800"/>
            <a:ext cx="3383280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0B981"/>
                </a:solidFill>
                <a:latin typeface="Segoe UI"/>
              </a:defRPr>
            </a:pPr>
            <a:r>
              <a:t>CHATTA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Interaktiv konversation</a:t>
            </a:r>
            <a:br/>
            <a:br/>
            <a:r>
              <a:t>- Kundtjänst-chatbotar</a:t>
            </a:r>
            <a:br/>
            <a:r>
              <a:t>- IT-support</a:t>
            </a:r>
            <a:br/>
            <a:r>
              <a:t>- Karriärrådgivning</a:t>
            </a:r>
            <a:br/>
            <a:r>
              <a:t>- Beställningssystem</a:t>
            </a:r>
            <a:br/>
            <a:r>
              <a:t>- Utbildningshjälp</a:t>
            </a:r>
            <a:br/>
            <a:r>
              <a:t>- Specialiserade assistenter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Segoe UI"/>
              </a:defRPr>
            </a:pPr>
            <a:r>
              <a:t>Promptteknik - Konsten att prata med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303520" cy="2103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FF"/>
                </a:solidFill>
                <a:latin typeface="Segoe UI"/>
              </a:defRPr>
            </a:pPr>
            <a:r>
              <a:t>1. Var detaljerad och specifik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C4899"/>
                </a:solidFill>
                <a:latin typeface="Segoe UI"/>
              </a:defRPr>
            </a:pPr>
            <a:r>
              <a:t>Dåligt: "Skriv ett mail"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Segoe UI"/>
              </a:defRPr>
            </a:pPr>
            <a:r>
              <a:t>Bra: "Skriv ett professionellt mail till min lärare</a:t>
            </a:r>
            <a:br/>
            <a:r>
              <a:t>om att jag behöver mer tid för mitt projekt.</a:t>
            </a:r>
            <a:br/>
            <a:r>
              <a:t>Tonen ska vara artig men tydlig."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303520" cy="2103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Segoe UI"/>
              </a:defRPr>
            </a:pPr>
            <a:r>
              <a:t>2. Ge steg-för-steg instruktioner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9202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Steg 1: Generera 5 idéer</a:t>
            </a:r>
            <a:br/>
            <a:r>
              <a:t>Steg 2: Välj den bästa</a:t>
            </a:r>
            <a:br/>
            <a:r>
              <a:t>Steg 3: Utveckla den med detaljer</a:t>
            </a:r>
            <a:br/>
            <a:r>
              <a:t>Steg 4: Skriv en kort sammanfattning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49039"/>
            <a:ext cx="5303520" cy="2560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40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Segoe UI"/>
              </a:defRPr>
            </a:pPr>
            <a:r>
              <a:t>3. Iterera och förbättra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976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Prompting är en loop:</a:t>
            </a:r>
            <a:br/>
            <a:br/>
            <a:r>
              <a:t>Idé --&gt; Prompt --&gt; Resultat --&gt; Förbättra --&gt; Upprepa</a:t>
            </a:r>
            <a:br/>
            <a:br/>
            <a:r>
              <a:t>Det första försöket behöver inte vara perfekt!</a:t>
            </a:r>
            <a:br/>
            <a:r>
              <a:t>Börja enkelt och förfina stegvis.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749039"/>
            <a:ext cx="5303520" cy="2560320"/>
          </a:xfrm>
          <a:prstGeom prst="roundRect">
            <a:avLst/>
          </a:prstGeom>
          <a:solidFill>
            <a:srgbClr val="2D1B1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3840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Segoe UI"/>
              </a:defRPr>
            </a:pPr>
            <a:r>
              <a:t>Viktigt att tänka på!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2976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- Dela aldrig känslig/personlig information</a:t>
            </a:r>
            <a:br/>
            <a:r>
              <a:t>  med AI-verktyg</a:t>
            </a:r>
            <a:br/>
            <a:br/>
            <a:r>
              <a:t>- Dubbelkolla alltid viktiga fakta</a:t>
            </a:r>
            <a:br/>
            <a:r>
              <a:t>  (AI kan hallucinera)</a:t>
            </a:r>
            <a:br/>
            <a:br/>
            <a:r>
              <a:t>- Speciellt viktigt för medicinska,</a:t>
            </a:r>
            <a:br/>
            <a:r>
              <a:t>  juridiska och ekonomiska beslut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Begränsningar - Vad AI INTE kan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914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FF"/>
                </a:solidFill>
                <a:latin typeface="Segoe UI"/>
              </a:defRPr>
            </a:pPr>
            <a:r>
              <a:t>Kunskapsgräns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41732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Modellen vet bara det den tränats på. Den har ingen tillgång till aktuella händelser efter sitt träningsdatum.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10698480" cy="914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C4899"/>
                </a:solidFill>
                <a:latin typeface="Segoe UI"/>
              </a:defRPr>
            </a:pPr>
            <a:r>
              <a:t>Hallucinationer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46888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AI:n kan hitta på saker som låter helt trovärdiga men är helt fel. Kontrollera alltid viktiga fakta!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10698480" cy="914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520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Segoe UI"/>
              </a:defRPr>
            </a:pPr>
            <a:r>
              <a:t>Begränsad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52044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Det finns gränser för hur mycket text modellen kan bearbeta åt gången (kontextfönster).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26279"/>
            <a:ext cx="10698480" cy="914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57199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Svag med tabeller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571999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Strukturerad data som Excel-tabeller hanteras bättre med traditionella verktyg.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577840"/>
            <a:ext cx="10698480" cy="914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623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Segoe UI"/>
              </a:defRPr>
            </a:pPr>
            <a:r>
              <a:t>Bias &amp; fördomar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562356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Modellen kan spegla fördomar från sin träningsdata och ge partiska eller stereotypa svar.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Bildgenerering med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6B6D4"/>
                </a:solidFill>
                <a:latin typeface="Segoe UI"/>
              </a:defRPr>
            </a:pPr>
            <a:r>
              <a:t>Diffusionsmodeller - från brus till bilder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011680" cy="2286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2011680"/>
            <a:ext cx="640080" cy="64008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6FF"/>
                </a:solidFill>
                <a:latin typeface="Segoe UI"/>
              </a:defRPr>
            </a:pPr>
            <a:r>
              <a:t>Brus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Börja med</a:t>
            </a:r>
            <a:br/>
            <a:r>
              <a:t>slumpmässiga pixlar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43200" y="2743200"/>
            <a:ext cx="27432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17520" y="1828800"/>
            <a:ext cx="2011680" cy="2286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57600" y="201168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  <a:latin typeface="Segoe UI"/>
              </a:defRPr>
            </a:pPr>
            <a:r>
              <a:t>Rensa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2004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Modellen tar bort</a:t>
            </a:r>
            <a:br/>
            <a:r>
              <a:t>lite brus i taget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029200" y="2743200"/>
            <a:ext cx="27432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03520" y="1828800"/>
            <a:ext cx="2011680" cy="2286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43600" y="2011680"/>
            <a:ext cx="640080" cy="6400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B6D4"/>
                </a:solidFill>
                <a:latin typeface="Segoe UI"/>
              </a:defRPr>
            </a:pPr>
            <a:r>
              <a:t>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32004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Konturer och</a:t>
            </a:r>
            <a:br/>
            <a:r>
              <a:t>former framträder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315200" y="2743200"/>
            <a:ext cx="27432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89520" y="1828800"/>
            <a:ext cx="2011680" cy="2286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0" y="201168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Detalj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32004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Detaljer och</a:t>
            </a:r>
            <a:br/>
            <a:r>
              <a:t>färger läggs till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601200" y="2743200"/>
            <a:ext cx="27432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875520" y="1828800"/>
            <a:ext cx="2011680" cy="2286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15600" y="201168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Segoe UI"/>
              </a:defRPr>
            </a:pPr>
            <a:r>
              <a:t>Resultat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32004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En färdig realistisk</a:t>
            </a:r>
            <a:br/>
            <a:r>
              <a:t>bild skapas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572000"/>
            <a:ext cx="10698480" cy="1828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Segoe UI"/>
              </a:defRPr>
            </a:pPr>
            <a:r>
              <a:t>Textprompts styr resultatet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120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Du kan styra bildgenereringen med textbeskrivningar:</a:t>
            </a:r>
            <a:br/>
            <a:br/>
            <a:r>
              <a:t>Prompt: "En futuristisk stad vid solnedgång, cyberpunk-stil" --&gt; AI genererar en bild som matchar beskrivningen</a:t>
            </a:r>
            <a:br/>
            <a:r>
              <a:t>Prompt: "En tecknad katt som spelar gitarr" --&gt; AI genererar en helt annan bild baserat på den nya beskrivningen</a:t>
            </a:r>
            <a:br/>
            <a:br/>
            <a:r>
              <a:t>Verktyg: DALL-E, Midjourney, Stable Diffusion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Verkliga användningsområden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2194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FF"/>
                </a:solidFill>
                <a:latin typeface="Segoe UI"/>
              </a:defRPr>
            </a:pPr>
            <a:r>
              <a:t>Utbildning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Personlig handledning, studiehjälp, skapa övningar, förklara komplexa ämnen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1371600"/>
            <a:ext cx="3383280" cy="2194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79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Segoe UI"/>
              </a:defRPr>
            </a:pPr>
            <a:r>
              <a:t>Hälsa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79" y="21031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Medicinsk forskning, analysera patientdata, hjälpa läkare med diagnostik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371600"/>
            <a:ext cx="3383280" cy="2194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3AED"/>
                </a:solidFill>
                <a:latin typeface="Segoe UI"/>
              </a:defRPr>
            </a:pPr>
            <a:r>
              <a:t>Kreativitet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1031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Musik, konst, design, filmproduktion, speldesign, arkitektur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3383280" cy="2194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14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Segoe UI"/>
              </a:defRPr>
            </a:pPr>
            <a:r>
              <a:t>Företag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66344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Kundtjänst, marknadsföring, dataanalys, automatisering, rapportskrivning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59" y="3931920"/>
            <a:ext cx="3383280" cy="2194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79" y="4114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Segoe UI"/>
              </a:defRPr>
            </a:pPr>
            <a:r>
              <a:t>Utveckling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466344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Kodgenerering, buggfixning, dokumentation, testning, code review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931920"/>
            <a:ext cx="3383280" cy="2194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4114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C4899"/>
                </a:solidFill>
                <a:latin typeface="Segoe UI"/>
              </a:defRPr>
            </a:pPr>
            <a:r>
              <a:t>Vetenskap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66344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Proteinveckning, läkemedelsutveckling, klimatmodellering, materialforskning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Kursen - Vad ska vi göra?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1097280" cy="457200"/>
          </a:xfrm>
          <a:prstGeom prst="round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Del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FF"/>
                </a:solidFill>
                <a:latin typeface="Segoe UI"/>
              </a:defRPr>
            </a:pPr>
            <a:r>
              <a:t>Teori &amp; Grunder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Förstå vad generativ AI är, hur det fungerar, och vad det kan användas till. Lär dig promptteknik och kritiskt tänkande kring AI.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303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Vecka 1-2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371600"/>
            <a:ext cx="3383280" cy="4754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63439" y="1554480"/>
            <a:ext cx="1097280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1572768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Del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194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3AED"/>
                </a:solidFill>
                <a:latin typeface="Segoe UI"/>
              </a:defRPr>
            </a:pPr>
            <a:r>
              <a:t>Praktik &amp; Kursmaterial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83464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Arbeta igenom Microsofts kursmaterial 'Generative AI with JavaScript'. Bygga AI-applikationer med JavaScript och API:er.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5303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Vecka 3-6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371600"/>
            <a:ext cx="3383280" cy="4754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0" y="1554480"/>
            <a:ext cx="109728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572768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Del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194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Segoe UI"/>
              </a:defRPr>
            </a:pPr>
            <a:r>
              <a:t>Eget Projekt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83464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Bygg din egen AI-applikation! Använd det du lärt dig för att skapa något unikt. Presentera för klassen.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5303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Vecka 7-10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Projektidéer - Vad kan du bygga?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560320" cy="2194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FF"/>
                </a:solidFill>
                <a:latin typeface="Segoe UI"/>
              </a:defRPr>
            </a:pPr>
            <a:r>
              <a:t>Studiehjälp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En AI som hjälper dig plugga genom att generera frågor och förklaringar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371600"/>
            <a:ext cx="2560320" cy="2194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Segoe UI"/>
              </a:defRPr>
            </a:pPr>
            <a:r>
              <a:t>Chatbot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40" y="210312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En specialiserad chatbot för ett ämne du brinner för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2560320" cy="2194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Segoe UI"/>
              </a:defRPr>
            </a:pPr>
            <a:r>
              <a:t>Nyhetssammanfattare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0312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En app som sammanfattar långa nyhetsartiklar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371600"/>
            <a:ext cx="2560320" cy="2194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Kreativ assistent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10312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Ett verktyg för att skapa berättelser, dikter eller låttexter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2560320" cy="2194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Kodhjälpare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6344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En AI-partner som hjälper dig lära dig programmera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0" y="3931920"/>
            <a:ext cx="2560320" cy="2194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4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C4899"/>
                </a:solidFill>
                <a:latin typeface="Segoe UI"/>
              </a:defRPr>
            </a:pPr>
            <a:r>
              <a:t>Bildgenerator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40" y="466344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En app där du beskriver bilder med text och AI skapar dem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931920"/>
            <a:ext cx="2560320" cy="2194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FF"/>
                </a:solidFill>
                <a:latin typeface="Segoe UI"/>
              </a:defRPr>
            </a:pPr>
            <a:r>
              <a:t>Receptgenerator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66344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Beskriv vad du har i kylen och få ett recept!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3931920"/>
            <a:ext cx="2560320" cy="2194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Språkträning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466344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En konversationspartner för att öva ett nytt språk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3657600" cy="36576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3657600"/>
            <a:ext cx="4572000" cy="457200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Redo att börja?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6B6D4"/>
                </a:solidFill>
                <a:latin typeface="Segoe UI"/>
              </a:defRPr>
            </a:pPr>
            <a:r>
              <a:t>Generativ AI förändrar världen.</a:t>
            </a:r>
            <a:br/>
            <a:r>
              <a:t>Vi ska lära oss att använda det - och bygga med det.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3931920"/>
            <a:ext cx="30175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BD5E1"/>
                </a:solidFill>
                <a:latin typeface="Segoe UI"/>
              </a:defRPr>
            </a:pPr>
            <a:r>
              <a:t>github.com/microsoft/generative-ai-with-javascript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C3AED"/>
                </a:solidFill>
                <a:latin typeface="Segoe UI"/>
              </a:defRPr>
            </a:pPr>
            <a:r>
              <a:t>Låt oss skapa framtiden tillsammans!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